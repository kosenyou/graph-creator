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Meiryo"/>
              </a:rPr>
              <a:t>論文用グラフ作成</a:t>
            </a:r>
          </a:p>
          <a:p>
            <a:pPr algn="l">
              <a:spcBef>
                <a:spcPts val="1500"/>
              </a:spcBef>
            </a:pPr>
            <a:r>
              <a:rPr sz="2000" b="0" i="0">
                <a:solidFill>
                  <a:srgbClr val="FFFFFF"/>
                </a:solidFill>
                <a:latin typeface="Meiryo"/>
              </a:rPr>
              <a:t>CSV &amp; Excel 論文用グラフ作成・エクスポートツール</a:t>
            </a:r>
          </a:p>
          <a:p>
            <a:pPr algn="l">
              <a:spcBef>
                <a:spcPts val="1000"/>
              </a:spcBef>
            </a:pPr>
            <a:r>
              <a:rPr sz="2000" b="1" i="0">
                <a:solidFill>
                  <a:srgbClr val="319795"/>
                </a:solidFill>
                <a:latin typeface="Meiryo"/>
              </a:rPr>
              <a:t>機能紹介 ＆ 取扱説明書</a:t>
            </a:r>
          </a:p>
          <a:p>
            <a:pPr algn="l">
              <a:spcBef>
                <a:spcPts val="4000"/>
              </a:spcBef>
            </a:pPr>
            <a:r>
              <a:rPr sz="1200" b="0" i="0">
                <a:solidFill>
                  <a:srgbClr val="FFFFFF"/>
                </a:solidFill>
                <a:latin typeface="Yu Gothic"/>
              </a:rPr>
              <a:t>Free Edition (多言語対応: 日本語 / English)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65D"/>
                </a:solidFill>
                <a:latin typeface="Meiryo"/>
              </a:rPr>
              <a:t>1. 製品概要 (Overview)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D3748"/>
                </a:solidFill>
                <a:latin typeface="Yu Gothic"/>
              </a:rPr>
              <a:t>「論文用グラフ作成」は、手元のCSVやExcelファイルをアップロードするだけで、美しく直感的なグラフを瞬時に作成・保存できるWebアプリケーションです。</a:t>
            </a:r>
          </a:p>
          <a:p>
            <a:pPr>
              <a:spcBef>
                <a:spcPts val="1400"/>
              </a:spcBef>
              <a:spcAft>
                <a:spcPts val="200"/>
              </a:spcAft>
            </a:pPr>
            <a:r>
              <a:rPr sz="1400" b="0" i="0">
                <a:solidFill>
                  <a:srgbClr val="2D3748"/>
                </a:solidFill>
                <a:latin typeface="Yu Gothic"/>
              </a:rPr>
              <a:t>• インストール不要: Webブラウザ上で完結するため、OSを問わず即座に利用可能。</a:t>
            </a:r>
          </a:p>
          <a:p>
            <a:pPr>
              <a:spcBef>
                <a:spcPts val="1400"/>
              </a:spcBef>
              <a:spcAft>
                <a:spcPts val="200"/>
              </a:spcAft>
            </a:pPr>
            <a:r>
              <a:rPr sz="1400" b="0" i="0">
                <a:solidFill>
                  <a:srgbClr val="2D3748"/>
                </a:solidFill>
                <a:latin typeface="Yu Gothic"/>
              </a:rPr>
              <a:t>• 直感的なUI: プログラミングや複雑なExcel操作を必要とせず、マウス操作だけでグラフを作成。</a:t>
            </a:r>
          </a:p>
          <a:p>
            <a:pPr>
              <a:spcBef>
                <a:spcPts val="1400"/>
              </a:spcBef>
              <a:spcAft>
                <a:spcPts val="200"/>
              </a:spcAft>
            </a:pPr>
            <a:r>
              <a:rPr sz="1400" b="0" i="0">
                <a:solidFill>
                  <a:srgbClr val="2D3748"/>
                </a:solidFill>
                <a:latin typeface="Yu Gothic"/>
              </a:rPr>
              <a:t>• 多様な保存形式: プレゼン用の画像保存から、データ付きExcelファイルの出力まで幅広く対応。</a:t>
            </a:r>
          </a:p>
          <a:p>
            <a:pPr>
              <a:spcBef>
                <a:spcPts val="1400"/>
              </a:spcBef>
              <a:spcAft>
                <a:spcPts val="200"/>
              </a:spcAft>
            </a:pPr>
            <a:r>
              <a:rPr sz="1400" b="0" i="0">
                <a:solidFill>
                  <a:srgbClr val="2D3748"/>
                </a:solidFill>
                <a:latin typeface="Yu Gothic"/>
              </a:rPr>
              <a:t>• 多言語切り替え: 日本語と英語の表示切替に対応し、グローバルな環境でも使用可能。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645920"/>
            <a:ext cx="3657600" cy="43891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4572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"/>
              </a:rPr>
              <a:t>主な特徴と提供価値</a:t>
            </a:r>
          </a:p>
          <a:p>
            <a:pPr>
              <a:spcBef>
                <a:spcPts val="2000"/>
              </a:spcBef>
            </a:pPr>
            <a:r>
              <a:rPr sz="1500" b="1" i="0">
                <a:solidFill>
                  <a:srgbClr val="FFFFFF"/>
                </a:solidFill>
                <a:latin typeface="Yu Gothic"/>
              </a:rPr>
              <a:t>🚀 瞬時のビジュアライズ</a:t>
            </a:r>
          </a:p>
          <a:p>
            <a:pPr>
              <a:spcBef>
                <a:spcPts val="2000"/>
              </a:spcBef>
            </a:pPr>
            <a:r>
              <a:rPr sz="1500" b="1" i="0">
                <a:solidFill>
                  <a:srgbClr val="FFFFFF"/>
                </a:solidFill>
                <a:latin typeface="Yu Gothic"/>
              </a:rPr>
              <a:t>📂 Excelの複数表の自動認識</a:t>
            </a:r>
          </a:p>
          <a:p>
            <a:pPr>
              <a:spcBef>
                <a:spcPts val="2000"/>
              </a:spcBef>
            </a:pPr>
            <a:r>
              <a:rPr sz="1500" b="1" i="0">
                <a:solidFill>
                  <a:srgbClr val="FFFFFF"/>
                </a:solidFill>
                <a:latin typeface="Yu Gothic"/>
              </a:rPr>
              <a:t>📊 高度な2軸折れ線・散布図対応</a:t>
            </a:r>
          </a:p>
          <a:p>
            <a:pPr>
              <a:spcBef>
                <a:spcPts val="2000"/>
              </a:spcBef>
            </a:pPr>
            <a:r>
              <a:rPr sz="1500" b="1" i="0">
                <a:solidFill>
                  <a:srgbClr val="FFFFFF"/>
                </a:solidFill>
                <a:latin typeface="Yu Gothic"/>
              </a:rPr>
              <a:t>💾 グラフ画像埋込済Excelの出力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65D"/>
                </a:solidFill>
                <a:latin typeface="Meiryo"/>
              </a:rPr>
              <a:t>2. 高性能なファイル読み込み機能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2000" b="1" i="0">
                <a:solidFill>
                  <a:srgbClr val="1A365D"/>
                </a:solidFill>
                <a:latin typeface="Yu Gothic"/>
              </a:rPr>
              <a:t>CSVファイルの読み込み</a:t>
            </a:r>
          </a:p>
          <a:p>
            <a:pPr>
              <a:spcBef>
                <a:spcPts val="1400"/>
              </a:spcBef>
            </a:pPr>
            <a:r>
              <a:rPr sz="1400" b="0" i="0">
                <a:solidFill>
                  <a:srgbClr val="2D3748"/>
                </a:solidFill>
                <a:latin typeface="Yu Gothic"/>
              </a:rPr>
              <a:t>✔ シンプルな区切り文字フォーマットを高速パース。</a:t>
            </a:r>
          </a:p>
          <a:p>
            <a:pPr>
              <a:spcBef>
                <a:spcPts val="1400"/>
              </a:spcBef>
            </a:pPr>
            <a:r>
              <a:rPr sz="1400" b="0" i="0">
                <a:solidFill>
                  <a:srgbClr val="2D3748"/>
                </a:solidFill>
                <a:latin typeface="Yu Gothic"/>
              </a:rPr>
              <a:t>✔ 1行目を列ヘッダー（列名）として自動判定し、軸の選択肢に反映。</a:t>
            </a:r>
          </a:p>
          <a:p>
            <a:pPr>
              <a:spcBef>
                <a:spcPts val="1400"/>
              </a:spcBef>
            </a:pPr>
            <a:r>
              <a:rPr sz="1400" b="0" i="0">
                <a:solidFill>
                  <a:srgbClr val="2D3748"/>
                </a:solidFill>
                <a:latin typeface="Yu Gothic"/>
              </a:rPr>
              <a:t>✔ カンマ区切りの数値データを素早くプロット。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2000" b="1" i="0">
                <a:solidFill>
                  <a:srgbClr val="319795"/>
                </a:solidFill>
                <a:latin typeface="Yu Gothic"/>
              </a:rPr>
              <a:t>Excelファイル (.xlsx / .xlsm) 対応</a:t>
            </a:r>
          </a:p>
          <a:p>
            <a:pPr>
              <a:spcBef>
                <a:spcPts val="1200"/>
              </a:spcBef>
            </a:pPr>
            <a:r>
              <a:rPr sz="1300" b="0" i="0">
                <a:solidFill>
                  <a:srgbClr val="2D3748"/>
                </a:solidFill>
                <a:latin typeface="Yu Gothic"/>
              </a:rPr>
              <a:t>✔ 複数表の自動検出: 1シート内に点在する複数の表を数値データのまとまりから自動検知して個別に読み込み可能。</a:t>
            </a:r>
          </a:p>
          <a:p>
            <a:pPr>
              <a:spcBef>
                <a:spcPts val="1200"/>
              </a:spcBef>
            </a:pPr>
            <a:r>
              <a:rPr sz="1300" b="0" i="0">
                <a:solidFill>
                  <a:srgbClr val="2D3748"/>
                </a:solidFill>
                <a:latin typeface="Yu Gothic"/>
              </a:rPr>
              <a:t>✔ 複雑な見出しの結合解除: セルの結合や複数段の見出しを自動解析し、[見出し1 / 見出し2] のように列名を自動生成。</a:t>
            </a:r>
          </a:p>
          <a:p>
            <a:pPr>
              <a:spcBef>
                <a:spcPts val="1200"/>
              </a:spcBef>
            </a:pPr>
            <a:r>
              <a:rPr sz="1300" b="0" i="0">
                <a:solidFill>
                  <a:srgbClr val="2D3748"/>
                </a:solidFill>
                <a:latin typeface="Yu Gothic"/>
              </a:rPr>
              <a:t>✔ 不要な計算行の除外: データの末尾にある「平均」や「標準偏差」といった統計計算行を自動判定し、グラフのプロット範囲から除外。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65D"/>
                </a:solidFill>
                <a:latin typeface="Meiryo"/>
              </a:rPr>
              <a:t>3. 多彩なグラフ表現と柔軟なカスタマイズ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折れ線グラフ (Line)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  <a:latin typeface="Yu Gothic"/>
              </a:rPr>
              <a:t>時間の経過に伴う推移や連続的なデータのトレンド変化を視覚化するのに最適です。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散布図 (Scatter)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  <a:latin typeface="Yu Gothic"/>
              </a:rPr>
              <a:t>2つの数値軸（X軸・Y軸）の相関関係を分析します。両軸に数値データが必要です。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棒グラフ (Bar)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  <a:latin typeface="Yu Gothic"/>
              </a:rPr>
              <a:t>項目間の数量比較や、不連続なカテゴリデータの可視化に威力を発揮します。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A365D"/>
                </a:solidFill>
                <a:latin typeface="Yu Gothic"/>
              </a:rPr>
              <a:t>グラフィックとレイアウトの細やかな制御項目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2D3748"/>
                </a:solidFill>
                <a:latin typeface="Yu Gothic"/>
              </a:rPr>
              <a:t>• 複数系列 (Multi-Series) 対応: 「+ 系列を追加」ボタンから、1つのグラフ上に異なるY列のデータを何個でも重ね描きできます。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2D3748"/>
                </a:solidFill>
                <a:latin typeface="Yu Gothic"/>
              </a:rPr>
              <a:t>• 左右2軸対応: 単位や桁数が大きく異なる指標を比較するため、「左Y軸」と「右Y軸」を個別に設定可能です。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2D3748"/>
                </a:solidFill>
                <a:latin typeface="Yu Gothic"/>
              </a:rPr>
              <a:t>• 表示オプション: 凡例の位置変更（右上 / 左上 / 右下 / 左下）、および「X軸の反転」機能を搭載しています。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65D"/>
                </a:solidFill>
                <a:latin typeface="Meiryo"/>
              </a:rPr>
              <a:t>4. 強力なエクスポート機能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286000" cy="9144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📸 PNG保存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554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D3748"/>
                </a:solidFill>
                <a:latin typeface="Yu Gothic"/>
              </a:rPr>
              <a:t>高解像度の画像形式としてグラフをエクスポート。資料や報告書への貼り付けに最適です。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2286000" cy="9144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📄 PDF保存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D3748"/>
                </a:solidFill>
                <a:latin typeface="Yu Gothic"/>
              </a:rPr>
              <a:t>描画されたグラフをPDF形式に直接変換して保存します。印刷や共有に適したレイアウトで出力されます。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2286000" cy="914400"/>
          </a:xfrm>
          <a:prstGeom prst="round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📊 XLSX保存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931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D3748"/>
                </a:solidFill>
                <a:latin typeface="Yu Gothic"/>
              </a:rPr>
              <a:t>読み込んだ元の表データと、作成したグラフ画像をセットにして1つのExcelファイルとして保存します。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2286000" cy="914400"/>
          </a:xfrm>
          <a:prstGeom prst="round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</a:rPr>
              <a:t>⚡ XLSM保存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120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D3748"/>
                </a:solidFill>
                <a:latin typeface="Yu Gothic"/>
              </a:rPr>
              <a:t>マクロ有効ブック形式 (.xlsm) として出力します。マクロが含まれる業務テンプレート等に組み込むベースとして使用可能です（本アプリからはマクロ本体は含めず、安全に保存されます）。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65D"/>
                </a:solidFill>
                <a:latin typeface="Meiryo"/>
              </a:rPr>
              <a:t>5. 操作手順 (How to Use)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/>
            <a:r>
              <a:rPr sz="2400" b="1" i="0">
                <a:solidFill>
                  <a:srgbClr val="319795"/>
                </a:solidFill>
                <a:latin typeface="Yu Gothic"/>
              </a:rPr>
              <a:t>Step 1</a:t>
            </a:r>
          </a:p>
          <a:p>
            <a:pPr algn="ctr">
              <a:spcBef>
                <a:spcPts val="1000"/>
              </a:spcBef>
            </a:pPr>
            <a:r>
              <a:rPr sz="1600" b="1" i="0">
                <a:solidFill>
                  <a:srgbClr val="1A365D"/>
                </a:solidFill>
                <a:latin typeface="Yu Gothic"/>
              </a:rPr>
              <a:t>ファイルの読込</a:t>
            </a:r>
          </a:p>
          <a:p>
            <a:pPr algn="ctr">
              <a:spcBef>
                <a:spcPts val="500"/>
              </a:spcBef>
            </a:pPr>
            <a:r>
              <a:rPr sz="1000" b="0" i="0">
                <a:solidFill>
                  <a:srgbClr val="718096"/>
                </a:solidFill>
                <a:latin typeface="Yu Gothic"/>
              </a:rPr>
              <a:t>━━━━━━</a:t>
            </a:r>
          </a:p>
          <a:p>
            <a:pPr algn="l">
              <a:spcBef>
                <a:spcPts val="1400"/>
              </a:spcBef>
            </a:pPr>
            <a:r>
              <a:rPr sz="1200" b="0" i="0">
                <a:solidFill>
                  <a:srgbClr val="2D3748"/>
                </a:solidFill>
                <a:latin typeface="Yu Gothic"/>
              </a:rPr>
              <a:t>「CSV/Excel読み込み」ボタンから、お手元のデータファイルを選択します。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/>
            <a:r>
              <a:rPr sz="2400" b="1" i="0">
                <a:solidFill>
                  <a:srgbClr val="319795"/>
                </a:solidFill>
                <a:latin typeface="Yu Gothic"/>
              </a:rPr>
              <a:t>Step 2</a:t>
            </a:r>
          </a:p>
          <a:p>
            <a:pPr algn="ctr">
              <a:spcBef>
                <a:spcPts val="1000"/>
              </a:spcBef>
            </a:pPr>
            <a:r>
              <a:rPr sz="1600" b="1" i="0">
                <a:solidFill>
                  <a:srgbClr val="1A365D"/>
                </a:solidFill>
                <a:latin typeface="Yu Gothic"/>
              </a:rPr>
              <a:t>データの指定</a:t>
            </a:r>
          </a:p>
          <a:p>
            <a:pPr algn="ctr">
              <a:spcBef>
                <a:spcPts val="500"/>
              </a:spcBef>
            </a:pPr>
            <a:r>
              <a:rPr sz="1000" b="0" i="0">
                <a:solidFill>
                  <a:srgbClr val="718096"/>
                </a:solidFill>
                <a:latin typeface="Yu Gothic"/>
              </a:rPr>
              <a:t>━━━━━━</a:t>
            </a:r>
          </a:p>
          <a:p>
            <a:pPr algn="l">
              <a:spcBef>
                <a:spcPts val="1400"/>
              </a:spcBef>
            </a:pPr>
            <a:r>
              <a:rPr sz="1200" b="0" i="0">
                <a:solidFill>
                  <a:srgbClr val="2D3748"/>
                </a:solidFill>
                <a:latin typeface="Yu Gothic"/>
              </a:rPr>
              <a:t>（Excelの場合）対象シートと、自動検出された表候補を選択します。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/>
            <a:r>
              <a:rPr sz="2400" b="1" i="0">
                <a:solidFill>
                  <a:srgbClr val="319795"/>
                </a:solidFill>
                <a:latin typeface="Yu Gothic"/>
              </a:rPr>
              <a:t>Step 3</a:t>
            </a:r>
          </a:p>
          <a:p>
            <a:pPr algn="ctr">
              <a:spcBef>
                <a:spcPts val="1000"/>
              </a:spcBef>
            </a:pPr>
            <a:r>
              <a:rPr sz="1600" b="1" i="0">
                <a:solidFill>
                  <a:srgbClr val="1A365D"/>
                </a:solidFill>
                <a:latin typeface="Yu Gothic"/>
              </a:rPr>
              <a:t>グラフの設定</a:t>
            </a:r>
          </a:p>
          <a:p>
            <a:pPr algn="ctr">
              <a:spcBef>
                <a:spcPts val="500"/>
              </a:spcBef>
            </a:pPr>
            <a:r>
              <a:rPr sz="1000" b="0" i="0">
                <a:solidFill>
                  <a:srgbClr val="718096"/>
                </a:solidFill>
                <a:latin typeface="Yu Gothic"/>
              </a:rPr>
              <a:t>━━━━━━</a:t>
            </a:r>
          </a:p>
          <a:p>
            <a:pPr algn="l">
              <a:spcBef>
                <a:spcPts val="1400"/>
              </a:spcBef>
            </a:pPr>
            <a:r>
              <a:rPr sz="1200" b="0" i="0">
                <a:solidFill>
                  <a:srgbClr val="2D3748"/>
                </a:solidFill>
                <a:latin typeface="Yu Gothic"/>
              </a:rPr>
              <a:t>グラフ種類、X軸の列、Y軸の列（複数可）、タイトル、軸ラベルを設定します。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/>
            <a:r>
              <a:rPr sz="2400" b="1" i="0">
                <a:solidFill>
                  <a:srgbClr val="319795"/>
                </a:solidFill>
                <a:latin typeface="Yu Gothic"/>
              </a:rPr>
              <a:t>Step 4</a:t>
            </a:r>
          </a:p>
          <a:p>
            <a:pPr algn="ctr">
              <a:spcBef>
                <a:spcPts val="1000"/>
              </a:spcBef>
            </a:pPr>
            <a:r>
              <a:rPr sz="1600" b="1" i="0">
                <a:solidFill>
                  <a:srgbClr val="1A365D"/>
                </a:solidFill>
                <a:latin typeface="Yu Gothic"/>
              </a:rPr>
              <a:t>作成と保存</a:t>
            </a:r>
          </a:p>
          <a:p>
            <a:pPr algn="ctr">
              <a:spcBef>
                <a:spcPts val="500"/>
              </a:spcBef>
            </a:pPr>
            <a:r>
              <a:rPr sz="1000" b="0" i="0">
                <a:solidFill>
                  <a:srgbClr val="718096"/>
                </a:solidFill>
                <a:latin typeface="Yu Gothic"/>
              </a:rPr>
              <a:t>━━━━━━</a:t>
            </a:r>
          </a:p>
          <a:p>
            <a:pPr algn="l">
              <a:spcBef>
                <a:spcPts val="1400"/>
              </a:spcBef>
            </a:pPr>
            <a:r>
              <a:rPr sz="1200" b="0" i="0">
                <a:solidFill>
                  <a:srgbClr val="2D3748"/>
                </a:solidFill>
                <a:latin typeface="Yu Gothic"/>
              </a:rPr>
              <a:t>「グラフ作成」ボタンを押し、表示を確認したらお好みの形式で保存します。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Yu Gothic"/>
              </a:rPr>
              <a:t>論文用グラフ作成</a:t>
            </a:r>
          </a:p>
          <a:p>
            <a:pPr algn="ctr">
              <a:spcBef>
                <a:spcPts val="1500"/>
              </a:spcBef>
            </a:pPr>
            <a:r>
              <a:rPr sz="1800" b="0" i="0">
                <a:solidFill>
                  <a:srgbClr val="FFFFFF"/>
                </a:solidFill>
                <a:latin typeface="Yu Gothic"/>
              </a:rPr>
              <a:t>誰でもかんたんに、すばやく、美しいデータをレポートへ。</a:t>
            </a:r>
          </a:p>
          <a:p>
            <a:pPr algn="ctr">
              <a:spcBef>
                <a:spcPts val="4000"/>
              </a:spcBef>
            </a:pPr>
            <a:r>
              <a:rPr sz="2800" b="1" i="0">
                <a:solidFill>
                  <a:srgbClr val="319795"/>
                </a:solidFill>
                <a:latin typeface="Yu Gothic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